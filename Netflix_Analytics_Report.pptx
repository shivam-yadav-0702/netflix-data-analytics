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4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5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6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7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8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9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10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11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12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13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Movies</c:v>
                  </c:pt>
                  <c:pt idx="1">
                    <c:v>TV Shows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6000</c:v>
                </c:pt>
                <c:pt idx="1">
                  <c:v>2700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Titles</c:v>
                </c:pt>
              </c:strCache>
            </c:strRef>
          </c:tx>
          <c:spPr>
            <a:solidFill>
              <a:srgbClr val="E50914"/>
            </a:solidFill>
            <a:ln w="31750" cap="flat">
              <a:solidFill>
                <a:srgbClr val="E5091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0914"/>
              </a:solidFill>
              <a:ln w="9525" cap="flat">
                <a:solidFill>
                  <a:srgbClr val="E509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2013</c:v>
                  </c:pt>
                  <c:pt idx="1">
                    <c:v>2014</c:v>
                  </c:pt>
                  <c:pt idx="2">
                    <c:v>2015</c:v>
                  </c:pt>
                  <c:pt idx="3">
                    <c:v>2016</c:v>
                  </c:pt>
                  <c:pt idx="4">
                    <c:v>2017</c:v>
                  </c:pt>
                  <c:pt idx="5">
                    <c:v>2018</c:v>
                  </c:pt>
                  <c:pt idx="6">
                    <c:v>2019</c:v>
                  </c:pt>
                  <c:pt idx="7">
                    <c:v>2020</c:v>
                  </c:pt>
                  <c:pt idx="8">
                    <c:v>2021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50</c:v>
                </c:pt>
                <c:pt idx="1">
                  <c:v>80</c:v>
                </c:pt>
                <c:pt idx="2">
                  <c:v>150</c:v>
                </c:pt>
                <c:pt idx="3">
                  <c:v>300</c:v>
                </c:pt>
                <c:pt idx="4">
                  <c:v>500</c:v>
                </c:pt>
                <c:pt idx="5">
                  <c:v>800</c:v>
                </c:pt>
                <c:pt idx="6">
                  <c:v>1100</c:v>
                </c:pt>
                <c:pt idx="7">
                  <c:v>1150</c:v>
                </c:pt>
                <c:pt idx="8">
                  <c:v>600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United States</c:v>
                  </c:pt>
                  <c:pt idx="1">
                    <c:v>India</c:v>
                  </c:pt>
                  <c:pt idx="2">
                    <c:v>Unknown</c:v>
                  </c:pt>
                  <c:pt idx="3">
                    <c:v>United Kingdom</c:v>
                  </c:pt>
                  <c:pt idx="4">
                    <c:v>Japan</c:v>
                  </c:pt>
                  <c:pt idx="5">
                    <c:v>South Korea</c:v>
                  </c:pt>
                  <c:pt idx="6">
                    <c:v>Canada</c:v>
                  </c:pt>
                  <c:pt idx="7">
                    <c:v>Spain</c:v>
                  </c:pt>
                  <c:pt idx="8">
                    <c:v>France</c:v>
                  </c:pt>
                  <c:pt idx="9">
                    <c:v>Mexico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2800</c:v>
                </c:pt>
                <c:pt idx="1">
                  <c:v>970</c:v>
                </c:pt>
                <c:pt idx="2">
                  <c:v>860</c:v>
                </c:pt>
                <c:pt idx="3">
                  <c:v>420</c:v>
                </c:pt>
                <c:pt idx="4">
                  <c:v>240</c:v>
                </c:pt>
                <c:pt idx="5">
                  <c:v>200</c:v>
                </c:pt>
                <c:pt idx="6">
                  <c:v>185</c:v>
                </c:pt>
                <c:pt idx="7">
                  <c:v>150</c:v>
                </c:pt>
                <c:pt idx="8">
                  <c:v>140</c:v>
                </c:pt>
                <c:pt idx="9">
                  <c:v>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 Added</c:v>
                </c:pt>
              </c:strCache>
            </c:strRef>
          </c:tx>
          <c:spPr>
            <a:solidFill>
              <a:srgbClr val="E50914"/>
            </a:solidFill>
            <a:ln w="31750" cap="flat">
              <a:solidFill>
                <a:srgbClr val="E5091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0914"/>
              </a:solidFill>
              <a:ln w="9525" cap="flat">
                <a:solidFill>
                  <a:srgbClr val="E509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2008</c:v>
                  </c:pt>
                  <c:pt idx="1">
                    <c:v>2009</c:v>
                  </c:pt>
                  <c:pt idx="2">
                    <c:v>2010</c:v>
                  </c:pt>
                  <c:pt idx="3">
                    <c:v>2011</c:v>
                  </c:pt>
                  <c:pt idx="4">
                    <c:v>2012</c:v>
                  </c:pt>
                  <c:pt idx="5">
                    <c:v>2013</c:v>
                  </c:pt>
                  <c:pt idx="6">
                    <c:v>2014</c:v>
                  </c:pt>
                  <c:pt idx="7">
                    <c:v>2015</c:v>
                  </c:pt>
                  <c:pt idx="8">
                    <c:v>2016</c:v>
                  </c:pt>
                  <c:pt idx="9">
                    <c:v>2017</c:v>
                  </c:pt>
                  <c:pt idx="10">
                    <c:v>2018</c:v>
                  </c:pt>
                  <c:pt idx="11">
                    <c:v>2019</c:v>
                  </c:pt>
                  <c:pt idx="12">
                    <c:v>2020</c:v>
                  </c:pt>
                  <c:pt idx="13">
                    <c:v>2021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40</c:v>
                </c:pt>
                <c:pt idx="5">
                  <c:v>80</c:v>
                </c:pt>
                <c:pt idx="6">
                  <c:v>150</c:v>
                </c:pt>
                <c:pt idx="7">
                  <c:v>300</c:v>
                </c:pt>
                <c:pt idx="8">
                  <c:v>600</c:v>
                </c:pt>
                <c:pt idx="9">
                  <c:v>900</c:v>
                </c:pt>
                <c:pt idx="10">
                  <c:v>1400</c:v>
                </c:pt>
                <c:pt idx="11">
                  <c:v>1900</c:v>
                </c:pt>
                <c:pt idx="12">
                  <c:v>2000</c:v>
                </c:pt>
                <c:pt idx="13">
                  <c:v>1500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 Added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700</c:v>
                </c:pt>
                <c:pt idx="1">
                  <c:v>560</c:v>
                </c:pt>
                <c:pt idx="2">
                  <c:v>650</c:v>
                </c:pt>
                <c:pt idx="3">
                  <c:v>760</c:v>
                </c:pt>
                <c:pt idx="4">
                  <c:v>640</c:v>
                </c:pt>
                <c:pt idx="5">
                  <c:v>820</c:v>
                </c:pt>
                <c:pt idx="6">
                  <c:v>740</c:v>
                </c:pt>
                <c:pt idx="7">
                  <c:v>730</c:v>
                </c:pt>
                <c:pt idx="8">
                  <c:v>750</c:v>
                </c:pt>
                <c:pt idx="9">
                  <c:v>800</c:v>
                </c:pt>
                <c:pt idx="10">
                  <c:v>760</c:v>
                </c:pt>
                <c:pt idx="11">
                  <c:v>820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TV-MA</c:v>
                  </c:pt>
                  <c:pt idx="1">
                    <c:v>TV-14</c:v>
                  </c:pt>
                  <c:pt idx="2">
                    <c:v>TV-PG</c:v>
                  </c:pt>
                  <c:pt idx="3">
                    <c:v>R</c:v>
                  </c:pt>
                  <c:pt idx="4">
                    <c:v>PG-13</c:v>
                  </c:pt>
                  <c:pt idx="5">
                    <c:v>TV-Y7</c:v>
                  </c:pt>
                  <c:pt idx="6">
                    <c:v>TV-Y</c:v>
                  </c:pt>
                  <c:pt idx="7">
                    <c:v>PG</c:v>
                  </c:pt>
                  <c:pt idx="8">
                    <c:v>TV-G</c:v>
                  </c:pt>
                  <c:pt idx="9">
                    <c:v>NR</c:v>
                  </c:pt>
                  <c:pt idx="10">
                    <c:v>G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3200</c:v>
                </c:pt>
                <c:pt idx="1">
                  <c:v>2200</c:v>
                </c:pt>
                <c:pt idx="2">
                  <c:v>850</c:v>
                </c:pt>
                <c:pt idx="3">
                  <c:v>820</c:v>
                </c:pt>
                <c:pt idx="4">
                  <c:v>490</c:v>
                </c:pt>
                <c:pt idx="5">
                  <c:v>310</c:v>
                </c:pt>
                <c:pt idx="6">
                  <c:v>280</c:v>
                </c:pt>
                <c:pt idx="7">
                  <c:v>265</c:v>
                </c:pt>
                <c:pt idx="8">
                  <c:v>220</c:v>
                </c:pt>
                <c:pt idx="9">
                  <c:v>90</c:v>
                </c:pt>
                <c:pt idx="10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&lt;60</c:v>
                  </c:pt>
                  <c:pt idx="1">
                    <c:v>60–80</c:v>
                  </c:pt>
                  <c:pt idx="2">
                    <c:v>80–100</c:v>
                  </c:pt>
                  <c:pt idx="3">
                    <c:v>100–120</c:v>
                  </c:pt>
                  <c:pt idx="4">
                    <c:v>120–140</c:v>
                  </c:pt>
                  <c:pt idx="5">
                    <c:v>140–160</c:v>
                  </c:pt>
                  <c:pt idx="6">
                    <c:v>160–180</c:v>
                  </c:pt>
                  <c:pt idx="7">
                    <c:v>&gt;180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120</c:v>
                </c:pt>
                <c:pt idx="1">
                  <c:v>350</c:v>
                </c:pt>
                <c:pt idx="2">
                  <c:v>1300</c:v>
                </c:pt>
                <c:pt idx="3">
                  <c:v>1150</c:v>
                </c:pt>
                <c:pt idx="4">
                  <c:v>850</c:v>
                </c:pt>
                <c:pt idx="5">
                  <c:v>330</c:v>
                </c:pt>
                <c:pt idx="6">
                  <c:v>200</c:v>
                </c:pt>
                <c:pt idx="7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6666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9999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AAAA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BBBB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1 Season</c:v>
                  </c:pt>
                  <c:pt idx="1">
                    <c:v>2 Seasons</c:v>
                  </c:pt>
                  <c:pt idx="2">
                    <c:v>3 Seasons</c:v>
                  </c:pt>
                  <c:pt idx="3">
                    <c:v>4 Seasons</c:v>
                  </c:pt>
                  <c:pt idx="4">
                    <c:v>5 Seasons</c:v>
                  </c:pt>
                  <c:pt idx="5">
                    <c:v>6+ Seasons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1800</c:v>
                </c:pt>
                <c:pt idx="1">
                  <c:v>420</c:v>
                </c:pt>
                <c:pt idx="2">
                  <c:v>215</c:v>
                </c:pt>
                <c:pt idx="3">
                  <c:v>120</c:v>
                </c:pt>
                <c:pt idx="4">
                  <c:v>80</c:v>
                </c:pt>
                <c:pt idx="5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6666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6666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99999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99999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99999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Dramas</c:v>
                  </c:pt>
                  <c:pt idx="1">
                    <c:v>Comedies</c:v>
                  </c:pt>
                  <c:pt idx="2">
                    <c:v>Action &amp; Adventure</c:v>
                  </c:pt>
                  <c:pt idx="3">
                    <c:v>International TV Shows</c:v>
                  </c:pt>
                  <c:pt idx="4">
                    <c:v>Documentaries</c:v>
                  </c:pt>
                  <c:pt idx="5">
                    <c:v>Kids' TV</c:v>
                  </c:pt>
                  <c:pt idx="6">
                    <c:v>Thrillers</c:v>
                  </c:pt>
                  <c:pt idx="7">
                    <c:v>Horror</c:v>
                  </c:pt>
                  <c:pt idx="8">
                    <c:v>Romantic Movies</c:v>
                  </c:pt>
                  <c:pt idx="9">
                    <c:v>Reality TV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2600</c:v>
                </c:pt>
                <c:pt idx="1">
                  <c:v>2300</c:v>
                </c:pt>
                <c:pt idx="2">
                  <c:v>1050</c:v>
                </c:pt>
                <c:pt idx="3">
                  <c:v>1000</c:v>
                </c:pt>
                <c:pt idx="4">
                  <c:v>430</c:v>
                </c:pt>
                <c:pt idx="5">
                  <c:v>420</c:v>
                </c:pt>
                <c:pt idx="6">
                  <c:v>340</c:v>
                </c:pt>
                <c:pt idx="7">
                  <c:v>290</c:v>
                </c:pt>
                <c:pt idx="8">
                  <c:v>250</c:v>
                </c:pt>
                <c:pt idx="9">
                  <c:v>190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United States</c:v>
                  </c:pt>
                  <c:pt idx="1">
                    <c:v>India</c:v>
                  </c:pt>
                  <c:pt idx="2">
                    <c:v>United Kingdom</c:v>
                  </c:pt>
                  <c:pt idx="3">
                    <c:v>Japan</c:v>
                  </c:pt>
                  <c:pt idx="4">
                    <c:v>South Korea</c:v>
                  </c:pt>
                  <c:pt idx="5">
                    <c:v>Canada</c:v>
                  </c:pt>
                  <c:pt idx="6">
                    <c:v>Spain</c:v>
                  </c:pt>
                  <c:pt idx="7">
                    <c:v>France</c:v>
                  </c:pt>
                  <c:pt idx="8">
                    <c:v>Mexico</c:v>
                  </c:pt>
                  <c:pt idx="9">
                    <c:v>Brazil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2800</c:v>
                </c:pt>
                <c:pt idx="1">
                  <c:v>970</c:v>
                </c:pt>
                <c:pt idx="2">
                  <c:v>420</c:v>
                </c:pt>
                <c:pt idx="3">
                  <c:v>240</c:v>
                </c:pt>
                <c:pt idx="4">
                  <c:v>200</c:v>
                </c:pt>
                <c:pt idx="5">
                  <c:v>185</c:v>
                </c:pt>
                <c:pt idx="6">
                  <c:v>150</c:v>
                </c:pt>
                <c:pt idx="7">
                  <c:v>140</c:v>
                </c:pt>
                <c:pt idx="8">
                  <c:v>120</c:v>
                </c:pt>
                <c:pt idx="9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Duration</c:v>
                </c:pt>
              </c:strCache>
            </c:strRef>
          </c:tx>
          <c:spPr>
            <a:solidFill>
              <a:srgbClr val="E50914"/>
            </a:solidFill>
            <a:ln w="31750" cap="flat">
              <a:solidFill>
                <a:srgbClr val="E5091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0914"/>
              </a:solidFill>
              <a:ln w="9525" cap="flat">
                <a:solidFill>
                  <a:srgbClr val="E509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2008</c:v>
                  </c:pt>
                  <c:pt idx="1">
                    <c:v>2009</c:v>
                  </c:pt>
                  <c:pt idx="2">
                    <c:v>2010</c:v>
                  </c:pt>
                  <c:pt idx="3">
                    <c:v>2011</c:v>
                  </c:pt>
                  <c:pt idx="4">
                    <c:v>2012</c:v>
                  </c:pt>
                  <c:pt idx="5">
                    <c:v>2013</c:v>
                  </c:pt>
                  <c:pt idx="6">
                    <c:v>2014</c:v>
                  </c:pt>
                  <c:pt idx="7">
                    <c:v>2015</c:v>
                  </c:pt>
                  <c:pt idx="8">
                    <c:v>2016</c:v>
                  </c:pt>
                  <c:pt idx="9">
                    <c:v>2017</c:v>
                  </c:pt>
                  <c:pt idx="10">
                    <c:v>2018</c:v>
                  </c:pt>
                  <c:pt idx="11">
                    <c:v>2019</c:v>
                  </c:pt>
                  <c:pt idx="12">
                    <c:v>2020</c:v>
                  </c:pt>
                  <c:pt idx="13">
                    <c:v>2021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40</c:v>
                </c:pt>
                <c:pt idx="1">
                  <c:v>60</c:v>
                </c:pt>
                <c:pt idx="2">
                  <c:v>70</c:v>
                </c:pt>
                <c:pt idx="3">
                  <c:v>93</c:v>
                </c:pt>
                <c:pt idx="4">
                  <c:v>80</c:v>
                </c:pt>
                <c:pt idx="5">
                  <c:v>62</c:v>
                </c:pt>
                <c:pt idx="6">
                  <c:v>47</c:v>
                </c:pt>
                <c:pt idx="7">
                  <c:v>60</c:v>
                </c:pt>
                <c:pt idx="8">
                  <c:v>57</c:v>
                </c:pt>
                <c:pt idx="9">
                  <c:v>50</c:v>
                </c:pt>
                <c:pt idx="10">
                  <c:v>70</c:v>
                </c:pt>
                <c:pt idx="11">
                  <c:v>77</c:v>
                </c:pt>
                <c:pt idx="12">
                  <c:v>71</c:v>
                </c:pt>
                <c:pt idx="13">
                  <c:v>69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TV-MA</c:v>
                </c:pt>
              </c:strCache>
            </c:strRef>
          </c:tx>
          <c:spPr>
            <a:solidFill>
              <a:srgbClr val="E50914"/>
            </a:solidFill>
            <a:ln w="25400" cap="flat">
              <a:solidFill>
                <a:srgbClr val="E5091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0914"/>
              </a:solidFill>
              <a:ln w="9525" cap="flat">
                <a:solidFill>
                  <a:srgbClr val="E509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120</c:v>
                </c:pt>
                <c:pt idx="1">
                  <c:v>200</c:v>
                </c:pt>
                <c:pt idx="2">
                  <c:v>350</c:v>
                </c:pt>
                <c:pt idx="3">
                  <c:v>500</c:v>
                </c:pt>
                <c:pt idx="4">
                  <c:v>680</c:v>
                </c:pt>
                <c:pt idx="5">
                  <c:v>720</c:v>
                </c:pt>
                <c:pt idx="6">
                  <c:v>490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TV-14</c:v>
                </c:pt>
              </c:strCache>
            </c:strRef>
          </c:tx>
          <c:spPr>
            <a:solidFill>
              <a:srgbClr val="444444"/>
            </a:solidFill>
            <a:ln w="25400" cap="flat">
              <a:solidFill>
                <a:srgbClr val="44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44444"/>
              </a:solidFill>
              <a:ln w="9525" cap="flat">
                <a:solidFill>
                  <a:srgbClr val="44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80</c:v>
                </c:pt>
                <c:pt idx="1">
                  <c:v>150</c:v>
                </c:pt>
                <c:pt idx="2">
                  <c:v>250</c:v>
                </c:pt>
                <c:pt idx="3">
                  <c:v>380</c:v>
                </c:pt>
                <c:pt idx="4">
                  <c:v>490</c:v>
                </c:pt>
                <c:pt idx="5">
                  <c:v>500</c:v>
                </c:pt>
                <c:pt idx="6">
                  <c:v>330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TV-PG</c:v>
                </c:pt>
              </c:strCache>
            </c:strRef>
          </c:tx>
          <c:spPr>
            <a:solidFill>
              <a:srgbClr val="888888"/>
            </a:solidFill>
            <a:ln w="25400" cap="flat">
              <a:solidFill>
                <a:srgbClr val="8888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88888"/>
              </a:solidFill>
              <a:ln w="9525" cap="flat">
                <a:solidFill>
                  <a:srgbClr val="8888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30</c:v>
                </c:pt>
                <c:pt idx="1">
                  <c:v>50</c:v>
                </c:pt>
                <c:pt idx="2">
                  <c:v>90</c:v>
                </c:pt>
                <c:pt idx="3">
                  <c:v>130</c:v>
                </c:pt>
                <c:pt idx="4">
                  <c:v>170</c:v>
                </c:pt>
                <c:pt idx="5">
                  <c:v>200</c:v>
                </c:pt>
                <c:pt idx="6">
                  <c:v>145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rgbClr val="AAAAAA"/>
            </a:solidFill>
            <a:ln w="25400" cap="flat">
              <a:solidFill>
                <a:srgbClr val="AAAA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AAAAA"/>
              </a:solidFill>
              <a:ln w="9525" cap="flat">
                <a:solidFill>
                  <a:srgbClr val="AAAA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25</c:v>
                </c:pt>
                <c:pt idx="1">
                  <c:v>45</c:v>
                </c:pt>
                <c:pt idx="2">
                  <c:v>80</c:v>
                </c:pt>
                <c:pt idx="3">
                  <c:v>120</c:v>
                </c:pt>
                <c:pt idx="4">
                  <c:v>150</c:v>
                </c:pt>
                <c:pt idx="5">
                  <c:v>170</c:v>
                </c:pt>
                <c:pt idx="6">
                  <c:v>120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bubble3D val="0"/>
            <c:spPr>
              <a:solidFill>
                <a:srgbClr val="444444"/>
              </a:solidFill>
              <a:effectLst/>
            </c:spPr>
          </c:dPt>
          <c:dPt>
            <c:idx val="2"/>
            <c:bubble3D val="0"/>
            <c:spPr>
              <a:solidFill>
                <a:srgbClr val="666666"/>
              </a:solidFill>
              <a:effectLst/>
            </c:spPr>
          </c:dPt>
          <c:dPt>
            <c:idx val="3"/>
            <c:bubble3D val="0"/>
            <c:spPr>
              <a:solidFill>
                <a:srgbClr val="777777"/>
              </a:solidFill>
              <a:effectLst/>
            </c:spPr>
          </c:dPt>
          <c:dPt>
            <c:idx val="4"/>
            <c:bubble3D val="0"/>
            <c:spPr>
              <a:solidFill>
                <a:srgbClr val="888888"/>
              </a:solidFill>
              <a:effectLst/>
            </c:spPr>
          </c:dPt>
          <c:dPt>
            <c:idx val="5"/>
            <c:bubble3D val="0"/>
            <c:spPr>
              <a:solidFill>
                <a:srgbClr val="999999"/>
              </a:solidFill>
              <a:effectLst/>
            </c:spPr>
          </c:dPt>
          <c:dPt>
            <c:idx val="6"/>
            <c:bubble3D val="0"/>
            <c:spPr>
              <a:solidFill>
                <a:srgbClr val="AAAAAA"/>
              </a:solidFill>
              <a:effectLst/>
            </c:spPr>
          </c:dPt>
          <c:dPt>
            <c:idx val="7"/>
            <c:bubble3D val="0"/>
            <c:spPr>
              <a:solidFill>
                <a:srgbClr val="BBBBBB"/>
              </a:solidFill>
              <a:effectLst/>
            </c:spPr>
          </c:dPt>
          <c:dPt>
            <c:idx val="8"/>
            <c:bubble3D val="0"/>
            <c:spPr>
              <a:solidFill>
                <a:srgbClr val="CCCCCC"/>
              </a:solidFill>
              <a:effectLst/>
            </c:spPr>
          </c:dPt>
          <c:dPt>
            <c:idx val="9"/>
            <c:bubble3D val="0"/>
            <c:spPr>
              <a:solidFill>
                <a:srgbClr val="DDDDD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9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Dramas</c:v>
                </c:pt>
                <c:pt idx="1">
                  <c:v>Comedies</c:v>
                </c:pt>
                <c:pt idx="2">
                  <c:v>Action &amp; Adventure</c:v>
                </c:pt>
                <c:pt idx="3">
                  <c:v>Int'l TV Shows</c:v>
                </c:pt>
                <c:pt idx="4">
                  <c:v>Documentaries</c:v>
                </c:pt>
                <c:pt idx="5">
                  <c:v>Kids' TV</c:v>
                </c:pt>
                <c:pt idx="6">
                  <c:v>Thrillers</c:v>
                </c:pt>
                <c:pt idx="7">
                  <c:v>Horror</c:v>
                </c:pt>
                <c:pt idx="8">
                  <c:v>Romantic</c:v>
                </c:pt>
                <c:pt idx="9">
                  <c:v>Others</c:v>
                </c:pt>
              </c:strCache>
            </c:strRef>
          </c:cat>
          <c:val>
            <c:numRef>
              <c:f>Sheet1!$B$2:$B$11</c:f>
              <c:numCache>
                <c:ptCount val="10"/>
                <c:pt idx="0">
                  <c:v>27</c:v>
                </c:pt>
                <c:pt idx="1">
                  <c:v>24</c:v>
                </c:pt>
                <c:pt idx="2">
                  <c:v>11</c:v>
                </c:pt>
                <c:pt idx="3">
                  <c:v>10</c:v>
                </c:pt>
                <c:pt idx="4">
                  <c:v>5</c:v>
                </c:pt>
                <c:pt idx="5">
                  <c:v>5</c:v>
                </c:pt>
                <c:pt idx="6">
                  <c:v>4</c:v>
                </c:pt>
                <c:pt idx="7">
                  <c:v>3</c:v>
                </c:pt>
                <c:pt idx="8">
                  <c:v>3</c:v>
                </c:pt>
                <c:pt idx="9">
                  <c:v>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1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Strategy &amp; Data Analytics Report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Enterprise-Level Analysis  |  Python  |  Power BI  |  8,807 Records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2788920"/>
            <a:ext cx="4572000" cy="2743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Shivam Yadav  |  Data Analyst  |  April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1920240" cy="11887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247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8,807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13916"/>
            <a:ext cx="192024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920240" cy="11887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1247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613916"/>
            <a:ext cx="192024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960120"/>
            <a:ext cx="1920240" cy="11887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247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480560" y="1613916"/>
            <a:ext cx="192024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960120"/>
            <a:ext cx="1920240" cy="11887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1247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92240" y="1613916"/>
            <a:ext cx="192024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4023360" cy="9144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146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600%+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4360" y="28986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growth 2015–2020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423160"/>
            <a:ext cx="4023360" cy="9144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5146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937760" y="28986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Drama, Comedy &amp; Docs share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4023360" cy="9144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6118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&amp; India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94360" y="39959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content markets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3520440"/>
            <a:ext cx="4023360" cy="9144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6118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TV-MA &amp; TV-14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937760" y="39959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audience ratings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365760" cy="3657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88696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Statement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65760" cy="3657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43560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Architecture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365760" cy="3657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98424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Cleaning Pipeline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53288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365760" cy="3657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08152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Analysis — Content Growth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365760" cy="3657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63016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Analysis — Ratings &amp; Duration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365760" cy="3657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17880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Analysis &amp; Trends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868680"/>
            <a:ext cx="365760" cy="3657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88696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 Analysis &amp; Market Intelligence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1417320"/>
            <a:ext cx="365760" cy="3657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0" y="143560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Advanced Statistical Analysis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1965960"/>
            <a:ext cx="365760" cy="3657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12080" y="198424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Variety &amp; Audience Engagement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4880" y="2514600"/>
            <a:ext cx="365760" cy="3657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12080" y="253288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Overview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54880" y="3063240"/>
            <a:ext cx="365760" cy="3657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12080" y="308152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54880" y="3611880"/>
            <a:ext cx="365760" cy="3657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12080" y="363016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0" y="19202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Statement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Research Question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0F0"/>
          </a:solidFill>
          <a:ln w="19050">
            <a:solidFill>
              <a:srgbClr val="E50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content investment patterns and strategic decisions can be inferred from Netflix's catalog data, and how can these insights guide future content strategy and market expansion?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Challenges Identified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balance Movie vs. TV Show investment to maximize user retention and acquisition?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geographic markets represent the highest growth opportunity for localized content?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content ratings and genre mix best serves Netflix's target demographic segments?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what rate is Netflix's content library growing, and is the growth sustainable?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content duration and maturity ratings evolve to match audience preferences?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Limitations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based on content metadata only. The following data dimensions are not available: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engagement data (watch time, completion rates, repeat views)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or subscription impact per title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review scores or sentiment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cost or licensing fee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solidFill>
            <a:srgbClr val="F0F8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493008"/>
            <a:ext cx="7863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gaps represent opportunities for future analysis. Engagement telemetry integrated with catalog metadata would enable predictive content investment models and significantly improve ROI per title.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0" y="19202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Architecture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Structure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1828800" cy="10515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18288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8,807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92758"/>
            <a:ext cx="1828800" cy="368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914400"/>
            <a:ext cx="1828800" cy="10515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078992"/>
            <a:ext cx="18288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23160" y="1492758"/>
            <a:ext cx="1828800" cy="368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914400"/>
            <a:ext cx="1828800" cy="10515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078992"/>
            <a:ext cx="18288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389120" y="1492758"/>
            <a:ext cx="1828800" cy="368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914400"/>
            <a:ext cx="1828800" cy="10515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078992"/>
            <a:ext cx="18288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55080" y="1492758"/>
            <a:ext cx="1828800" cy="368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Schema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6576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2813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identifier per title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 or TV Show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of the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 name(s)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cast members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of production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date_added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added to Netflix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release_year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release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 rating (TV-MA, TV-14, etc.)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(min) or seasons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listed_in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 categories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synopsis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0" y="19202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Cleaning Pipeline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Pipeline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640080" cy="6400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34440" y="9784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Loading &amp; Exploration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27101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check, info(), describe(), null counts, duplicate check → 0 duplicates found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640080" cy="6400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1938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Treatment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23113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cast, country imputed with "Unknown". date_added filled using mode. Strategy: preserve all 8,807 rows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640080" cy="6400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28986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&amp; Duration Fix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19125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records had duration values misplaced in rating column. Corrected manually via show_id lookup and external verification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640080" cy="6400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38587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Normalization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415137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listed_in split on comma; first genre retained as primary. year_added and month_added extracted for time series analysis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Outcome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E8F5E9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 cleaning: 0 duplicates, 0 nulls in all analytical columns except 4 in rating. Dataset fully ready for exploratory and advanced analysis.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Libraries Used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560320" cy="7772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743200"/>
            <a:ext cx="2560320" cy="7772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3154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operations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2743200"/>
            <a:ext cx="2560320" cy="7772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0" y="3154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visualizations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2560320" cy="7772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94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114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visualizations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3703320"/>
            <a:ext cx="2560320" cy="7772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3794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plotly.express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91840" y="4114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visualizations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0" y="19202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Content Type Distribution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2926080" cy="15544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5216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~6,000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85216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(68%)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60720" y="2606040"/>
            <a:ext cx="2926080" cy="15544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0" y="2697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~2,700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85216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Shows (32%)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FFF8E1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459028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</a:t>
            </a:r>
            <a:pPr indent="0" marL="0">
              <a:buNone/>
            </a:pPr>
            <a:r>
              <a:rPr lang="en-US" sz="1200" dirty="0">
                <a:solidFill>
                  <a:srgbClr val="5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serve as the acquisition engine. TV Shows serve as retention tools. A healthy split strategy requires both.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Content Release Year Trend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solidFill>
            <a:srgbClr val="FFF8E1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445312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</a:t>
            </a:r>
            <a:pPr indent="0" marL="0">
              <a:buNone/>
            </a:pPr>
            <a:r>
              <a:rPr lang="en-US" sz="1200" dirty="0">
                <a:solidFill>
                  <a:srgbClr val="5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concentration from 2013 onwards, peaking 2019–2020. Reflects aggressive original content production ramp-up. Post-2020 decline signals strategic stabilization.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Geographic Content Distribution — Top 10 Countries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8229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Geographic Insights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FFF8E1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24128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</a:t>
            </a:r>
            <a:pPr indent="0" marL="0">
              <a:buNone/>
            </a:pPr>
            <a:r>
              <a:rPr lang="en-US" sz="1200" dirty="0">
                <a:solidFill>
                  <a:srgbClr val="5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strong #2 position reflects Netflix's investment in Bollywood and regional content as part of its emerging market strategy. Japan and South Korea signal the K-Drama and Anime opportunity.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States: ~2,800 titles — dominant content producer, nearly 3× the second country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~970 titles — fastest-growing non-English market, Bollywood + regional originals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"Unknown" (~860): represents titles without country metadata — a data quality gap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Kingdom: ~420 titles — premium drama and comedy co-productions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(~240) &amp; South Korea (~200): K-Drama and Anime-adjacent expansion opportunity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 (Mexico) and Europe (Spain, France) show emerging production capacity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0" y="19202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Analysis — Content Growth</a:t>
            </a:r>
            <a:endParaRPr 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 Four Strategic Growth Phases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6576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 Growth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2008–2014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&amp; Steady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streaming library build-up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2015–2017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+50–80%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 expansion begins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Expansion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2018–2020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+100–150%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content investment surge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from volume to quality curation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 Year-Wise Content Addition Trend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8229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07408"/>
            <a:ext cx="8229600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4517136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</a:t>
            </a:r>
            <a:pPr indent="0" marL="0">
              <a:buNone/>
            </a:pPr>
            <a:r>
              <a:rPr lang="en-US" sz="1200" dirty="0">
                <a:solidFill>
                  <a:srgbClr val="5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peaked at 150%+ in 2019–2020. Post-2021 stabilization indicates a strategic pivot from aggressive expansion to content quality optimization.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 Monthly Content Addition Pattern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solidFill>
            <a:srgbClr val="FFF8E1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445312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</a:t>
            </a:r>
            <a:pPr indent="0" marL="0">
              <a:buNone/>
            </a:pPr>
            <a:r>
              <a:rPr lang="en-US" sz="1200" dirty="0">
                <a:solidFill>
                  <a:srgbClr val="5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additions spike in Q4 (October–December), aligning with holiday season viewing. This is a deliberate programming strategy to maximize subscriber engagement during peak viewing months.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0" y="19202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Analysis — Ratings &amp; Duration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 Content Rating Distribution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914400"/>
          <a:ext cx="2926080" cy="393192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731520"/>
              </a:tblGrid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Library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TV-MA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TV-14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TV-PG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Parental Guidance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17+ (film)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PG-13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 Movie Duration Distribution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FFF8E1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440740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</a:t>
            </a:r>
            <a:pPr indent="0" marL="0">
              <a:buNone/>
            </a:pPr>
            <a:r>
              <a:rPr lang="en-US" sz="1200" dirty="0">
                <a:solidFill>
                  <a:srgbClr val="5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Netflix movies fall in the 80–120 minute range — the widely accepted "completion sweet spot". This reflects deliberate content acquisition criteria targeting high completion rates.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 TV Show Season Distribution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FFF8E1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440740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</a:t>
            </a:r>
            <a:pPr indent="0" marL="0">
              <a:buNone/>
            </a:pPr>
            <a:r>
              <a:rPr lang="en-US" sz="1200" dirty="0">
                <a:solidFill>
                  <a:srgbClr val="5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Single-season TV shows dominate the library. Netflix uses limited series as a low-risk format. Multi-season renewals are reserved for proven performers — a data-driven investment approach.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0" y="19202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Analysis &amp; Trends</a:t>
            </a:r>
            <a:endParaRPr lang="en-US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 Top Genre Distribution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8229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 Genre Trend Analysis &amp; Business Implications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6576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Implication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Dramas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Consistently High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content pillar — stable investment zone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 TV Shows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 Growth 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indicator of global expansion success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Comedies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Steady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 appeal genre — broad demographic reach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but Consistent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Appeals to educated, high-engagement audience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&amp; Adventure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Volatile 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cost, high reward — selective investment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0" y="19202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 Analysis &amp; Market Intelligence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 Regional Content Concentration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4818888"/>
            <a:ext cx="79552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</a:t>
            </a:r>
            <a:pPr indent="0" marL="0">
              <a:buNone/>
            </a:pPr>
            <a:r>
              <a:rPr lang="en-US" sz="1200" dirty="0">
                <a:solidFill>
                  <a:srgbClr val="5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leads at ~2,800 titles — nearly 3× India. The gap is narrowing as emerging markets gain investment.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 Emerging Markets Analysis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solidFill>
            <a:srgbClr val="FFF8E1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24128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</a:t>
            </a:r>
            <a:pPr indent="0" marL="0">
              <a:buNone/>
            </a:pPr>
            <a:r>
              <a:rPr lang="en-US" sz="1200" dirty="0">
                <a:solidFill>
                  <a:srgbClr val="5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India, Japan, South Korea, and Mexico are Netflix's highest-priority regional content markets. Regional content achieves global audience appeal, offering outsized ROI on production investment.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Fastest compound growth rate — Hindi, Tamil, and Telugu originals driving APAC subscriber acquisition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Korea: K-Dramas achieve global crossover appeal (Squid Game: most-watched series in history)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Japan: Anime-adjacent content draws global niche audiences with very high engagement and loyalty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 &amp; LATAM: Growing telenovela and thriller production capacity — LATAM market under-represented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&amp; France: Co-production treaties enable cost-effective European content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region: Still significantly under-represented — high-growth opportunity market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0" y="19202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Advanced Statistical Analysis</a:t>
            </a:r>
            <a:endParaRPr lang="en-US" sz="3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 Duration vs. Rating Correlation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914400"/>
            <a:ext cx="3200400" cy="3200400"/>
          </a:xfrm>
          <a:prstGeom prst="rect">
            <a:avLst/>
          </a:prstGeom>
          <a:solidFill>
            <a:srgbClr val="1A3A8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914400"/>
            <a:ext cx="1600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971800" y="914400"/>
            <a:ext cx="1600200" cy="1600200"/>
          </a:xfrm>
          <a:prstGeom prst="rect">
            <a:avLst/>
          </a:prstGeom>
          <a:solidFill>
            <a:srgbClr val="3060C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1800" y="914400"/>
            <a:ext cx="1600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-0.35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371600" y="2514600"/>
            <a:ext cx="1600200" cy="1600200"/>
          </a:xfrm>
          <a:prstGeom prst="rect">
            <a:avLst/>
          </a:prstGeom>
          <a:solidFill>
            <a:srgbClr val="3060C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514600"/>
            <a:ext cx="1600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-0.35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971800" y="2514600"/>
            <a:ext cx="1600200" cy="1600200"/>
          </a:xfrm>
          <a:prstGeom prst="rect">
            <a:avLst/>
          </a:prstGeom>
          <a:solidFill>
            <a:srgbClr val="B5282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514600"/>
            <a:ext cx="1600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71600" y="4206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duration_num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141732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coefficient: -0.35 (weak negative)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length does NOT significantly dictate its audience rating category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and long content alike spans all rating tiers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alone is not a predictor of content maturity classification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Netflix's approach: content for all lengths across all demographics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  Average Content Duration Over Time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97680"/>
            <a:ext cx="8229600" cy="685800"/>
          </a:xfrm>
          <a:prstGeom prst="rect">
            <a:avLst/>
          </a:prstGeom>
          <a:solidFill>
            <a:srgbClr val="FFF8E1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440740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</a:t>
            </a:r>
            <a:pPr indent="0" marL="0">
              <a:buNone/>
            </a:pPr>
            <a:r>
              <a:rPr lang="en-US" sz="1200" dirty="0">
                <a:solidFill>
                  <a:srgbClr val="5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peaked ~2011 (early library built from longer films), dipped ~2014 (TV show expansion), stabilized ~70 min average. Recent stabilization reflects mix of shorter originals and feature-length films.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  Rating Evolution Over Time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solidFill>
            <a:srgbClr val="FFF8E1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445312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</a:t>
            </a:r>
            <a:pPr indent="0" marL="0">
              <a:buNone/>
            </a:pPr>
            <a:r>
              <a:rPr lang="en-US" sz="1200" dirty="0">
                <a:solidFill>
                  <a:srgbClr val="5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TV-MA shows steepest growth — Netflix deliberately targets mature adults with higher engagement, longer sessions, and lower churn. Aligns with binge-watching content strategy.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0" y="19202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Variety &amp; Audience Engagement</a:t>
            </a:r>
            <a:endParaRPr lang="en-US" sz="3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  Genre Diversity Distribution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029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669280" y="137160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&amp; Comedy = 51% of total library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Drama, Comedy &amp; Docs = &gt;60% combined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TV Shows: highest growth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Children's content only ~5% — underserved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 &amp; Thriller: niche but loyal audiences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  User Preference Inference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direct engagement data, user preference is inferred from content availability patterns.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22860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Acquisition Engine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library appeal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subscriber attraction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~6,000 titles (68%)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22860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5544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1920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Retention Tool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Multi-episode engagement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stickiness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~2,700 titles (32%)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FFF8E1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087368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</a:t>
            </a:r>
            <a:pPr indent="0" marL="0">
              <a:buNone/>
            </a:pPr>
            <a:r>
              <a:rPr lang="en-US" sz="1200" dirty="0">
                <a:solidFill>
                  <a:srgbClr val="5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must maintain both content types to simultaneously attract new subscribers and retain existing ones. A healthy split strategy is critical for long-term growth.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0" y="19202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Overview</a:t>
            </a:r>
            <a:endParaRPr lang="en-US" sz="3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  Dashboard Components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6576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Panel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Growth Timeline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Titles added per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expansion phases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 Breakdown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Donut Chart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share by genre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balance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 Heatmap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Titles by country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prioritization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Distribution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Stacked Bar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 rating 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 targeting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 vs TV Trend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Chart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split over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 mix KPI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distribution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format 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Directors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volume by director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 relationship mgmt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Add Cadence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Chart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addition pattern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scheduling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  Power BI Key Skills Demonstrated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import and transformation using Power Query (M language)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calculated columns and measures for YoY growth, % share, rolling averages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 for Type, Country, Rating, Year, and Genre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Cross-filtering between visuals for multi-dimensional drill-down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color theming aligned with Netflix brand palette (#E50914)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Bookmarks and navigation for multi-page dashboard 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206240"/>
            <a:ext cx="8229600" cy="7772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3159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Netflix_title_dashboard.pbix  |  Requires Microsoft Power BI Desktop  |  Dataset: netflix_titles.csv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0" y="19202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3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12.1–12.3  Recommendations (Part 1)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502920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97840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 — Regional Content Investment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121615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Emerging Market Production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50876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shows fastest YoY growth. Doubling investment in Hindi, Tamil, and Telugu originals — plus K-Drama and Anime partnerships — projected to unlock 50–100M new subscribers in APAC and LATAM.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502920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30428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 — TV Show Retention Strategy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254203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Multi-Season Series Investment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8346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TV shows are single-season. A 2-season minimum commissioning strategy for top-performing originals would materially reduce subscriber churn and increase platform stickiness.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502920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363016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 — Underserved Segments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386791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Children's &amp; Family Content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16052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~5–8% of library carries G, TV-Y, or TV-Y7 ratings. Family households have high retention rates. Animated originals would reduce churn and increase household account value.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12.4–12.6  Recommendations (Part 2)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502920" cy="5029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97840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 — Genre Core Optimization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121615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and Deepen the Drama/Comedy 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50876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and Comedy represent &gt;60% of catalog. Data supports a "core-and-explore" strategy: protect the drama/comedy core while using 10–15% of budget to test high-upside categories (Documentary Series, Interactive Content).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502920" cy="5029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30428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 — Mature Content Balance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254203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Rating Skew with PG-13 and TV-PG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8346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61% of content targets TV-14 and TV-MA. A targeted 15% shift toward PG-13/TV-PG in new commissioning could broaden the serviceable audience without alienating the core adult demographic.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502920" cy="5029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363016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 — Data Capability Enhancement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386791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Engagement Metrics into Content Analytics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16052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dataset lacks user behavior signals. A unified content analytics platform combining catalog metadata with engagement telemetry would enable predictive investment models and significantly improve ROI per title.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0" y="19202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Confirms &amp; Opportunities Identified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3931920" cy="3474720"/>
          </a:xfrm>
          <a:prstGeom prst="rect">
            <a:avLst/>
          </a:prstGeom>
          <a:solidFill>
            <a:srgbClr val="F0FFF0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the Data Confirms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library grew 600%+ post-2015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and Comedy are resilient, scalable genres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fastest-growing content market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used for acquisition, shows for retention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TV-MA dominance confirms adult-first strategy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3474720"/>
          </a:xfrm>
          <a:prstGeom prst="rect">
            <a:avLst/>
          </a:prstGeom>
          <a:solidFill>
            <a:srgbClr val="FFFFF0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Opportunities Identified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4173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 children's &amp; family segment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Over-reliance on single-season TV shows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engagement data for true ROI measurement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skew toward mature content only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 and MENA markets under-represented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Conclusion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"Netflix built its position through volume and consistency, but sustaining that position at scale requires a pivot toward precision — investing in the right content, in the right markets, for the right audiences, with engagement data at the core of every decision."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206240"/>
            <a:ext cx="8229600" cy="777240"/>
          </a:xfrm>
          <a:prstGeom prst="rect">
            <a:avLst/>
          </a:prstGeom>
          <a:solidFill>
            <a:srgbClr val="FFF8E1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315968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</a:t>
            </a:r>
            <a:pPr indent="0" marL="0">
              <a:buNone/>
            </a:pPr>
            <a:r>
              <a:rPr lang="en-US" sz="1200" dirty="0">
                <a:solidFill>
                  <a:srgbClr val="5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reveals that Netflix's content strategy is not opportunistic — it is highly deliberate and data-informed. The platform has methodically scaled from a US-centric service to a global content powerhouse by following a clear strategic playbook.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Technical Reference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Python Libraries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3258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Data manipulation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733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16733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Numerical operations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208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matplotlib.pyplot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202082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Static visualizations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3682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236829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Statistical visualizations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7157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plotly.express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27157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Interactive visualizations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Data &amp; Tools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Netflix Titles Dataset (Kaggle)  |  8,807 records  |  1925–2021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Version: 3.9+  |  pandas ≥ 1.3, matplotlib ≥ 3.4, seaborn ≥ 0.11, plotly ≥ 5.0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BI: Netflix_title_dashboard.pbix — Power BI Desktop required (free from Microsoft)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651760"/>
            <a:ext cx="2743200" cy="3657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Shivam Yadav  |  Data Analyst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Power BI  ·  Pandas  ·  Matplotlib  ·  Seaborn  ·  Plotly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Content Strategy &amp; Data Analytics Report  |  April 2026  |  CONFIDENTIAL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Content Strategy &amp; Analytics Report</dc:title>
  <dc:subject>PptxGenJS Presentation</dc:subject>
  <dc:creator>Shivam Yadav</dc:creator>
  <cp:lastModifiedBy>Shivam Yadav</cp:lastModifiedBy>
  <cp:revision>1</cp:revision>
  <dcterms:created xsi:type="dcterms:W3CDTF">2026-04-23T09:36:35Z</dcterms:created>
  <dcterms:modified xsi:type="dcterms:W3CDTF">2026-04-23T09:36:35Z</dcterms:modified>
</cp:coreProperties>
</file>